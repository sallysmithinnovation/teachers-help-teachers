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7772400" cy="10058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lly Smith" userId="b1737994-65c8-4ad2-b3e2-98dc64f16e15" providerId="ADAL" clId="{2D8FAA06-5CB8-423C-8110-696C058E2BA6}"/>
    <pc:docChg chg="custSel addSld modSld modNotesMaster">
      <pc:chgData name="Sally Smith" userId="b1737994-65c8-4ad2-b3e2-98dc64f16e15" providerId="ADAL" clId="{2D8FAA06-5CB8-423C-8110-696C058E2BA6}" dt="2026-10-22T12:23:17.162" v="0" actId="26606"/>
      <pc:docMkLst>
        <pc:docMk/>
      </pc:docMkLst>
      <pc:sldChg chg="modNotes">
        <pc:chgData name="Sally Smith" userId="b1737994-65c8-4ad2-b3e2-98dc64f16e15" providerId="ADAL" clId="{2D8FAA06-5CB8-423C-8110-696C058E2BA6}" dt="2026-10-22T12:23:17.162" v="0" actId="26606"/>
        <pc:sldMkLst>
          <pc:docMk/>
          <pc:sldMk cId="853213733" sldId="256"/>
        </pc:sldMkLst>
      </pc:sldChg>
      <pc:sldChg chg="add">
        <pc:chgData name="Sally Smith" userId="b1737994-65c8-4ad2-b3e2-98dc64f16e15" providerId="ADAL" clId="{2D8FAA06-5CB8-423C-8110-696C058E2BA6}" dt="2026-10-22T12:23:17.162" v="0" actId="26606"/>
        <pc:sldMkLst>
          <pc:docMk/>
          <pc:sldMk cId="0" sldId="2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07668D-C984-7F47-9969-1344A971CAF8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60412-F59C-FB48-AB64-E10ED9C11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085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TEACHER ANSWER KEY</a:t>
            </a:r>
          </a:p>
          <a:p>
            <a:r>
              <a:t>1. A = 12 × 7 ÷ 2 = 42 cm².</a:t>
            </a:r>
          </a:p>
          <a:p>
            <a:r>
              <a:t>2. 45 = 10h ÷ 2, so h = 9 cm.</a:t>
            </a:r>
          </a:p>
          <a:p>
            <a:r>
              <a:t>3. A = 9 × 4 = 36 cm².</a:t>
            </a:r>
          </a:p>
          <a:p>
            <a:r>
              <a:t>4. Height is the perpendicular distance between the parallel bases. The 5 cm side is slanted and is not perpendicular to the base.</a:t>
            </a:r>
          </a:p>
          <a:p>
            <a:r>
              <a:t>5. d = 2 × 5 = 10 cm. C ≈ 2 × 3.14 × 5 = 31.4 cm.</a:t>
            </a:r>
          </a:p>
          <a:p>
            <a:r>
              <a:t>6. A ≈ 3.14 × 5² = 78.5 cm².</a:t>
            </a:r>
          </a:p>
          <a:p>
            <a:endParaRPr/>
          </a:p>
          <a:p>
            <a:r>
              <a:t>CURRICULUM BASIS</a:t>
            </a:r>
          </a:p>
          <a:p>
            <a:r>
              <a:t>Calgary Board of Education, Alberta Education 7–9 Mathematics Program of Studies Overview, Grade 7: relationships among radius, diameter and circumference; formulas for areas of triangles, parallelograms and circles. https://cbe.ab.ca/get-involved/school-councils/documents/alberta-ed-math7-12.pdf (accessed 22 October 2026). This worksheet practises selected outcomes, not the entire geometry strand.</a:t>
            </a:r>
          </a:p>
          <a:p>
            <a:r>
              <a:t>All problems are original practice examples. Geometry diagrams are AI-generated illustrations, not to scale.</a:t>
            </a:r>
          </a:p>
          <a:p>
            <a:r>
              <a:t>PRINTING</a:t>
            </a:r>
          </a:p>
          <a:p>
            <a:r>
              <a:t>Slide size is 8.5 × 11 inches, portrait. Print one full-page slide on letter paper. Answer key stays in speaker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Teacher companion to slide 1. Original suggested review lesson. Answer key uses the worksheet dimensions and π ≈ 3.14. Curriculum basis retained from worksheet: https://cbe.ab.ca/get-involved/school-councils/documents/alberta-ed-math7-12.pdf. Print slide 2 as one full-page slide on portrait letter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8217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27C86ED3-A921-49D8-A440-CE45799A67E7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6858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Geometry &amp; measurement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391429-8F25-4127-9948-50C7650C64C6}"/>
              </a:ext>
            </a:extLst>
          </p:cNvPr>
          <p:cNvSpPr>
            <a:spLocks noGrp="1"/>
          </p:cNvSpPr>
          <p:nvPr/>
        </p:nvSpPr>
        <p:spPr>
          <a:xfrm>
            <a:off x="457200" y="781050"/>
            <a:ext cx="6858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Alberta Grade 7 mathematics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0BB547-DAD8-4987-B5A4-AD617368CE17}"/>
              </a:ext>
            </a:extLst>
          </p:cNvPr>
          <p:cNvSpPr>
            <a:spLocks noGrp="1"/>
          </p:cNvSpPr>
          <p:nvPr/>
        </p:nvSpPr>
        <p:spPr>
          <a:xfrm>
            <a:off x="457200" y="1104900"/>
            <a:ext cx="68580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Name: __________________________    Date: __________________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5D42B6-6C34-4F0A-99A3-4C0E58DBD2EE}"/>
              </a:ext>
            </a:extLst>
          </p:cNvPr>
          <p:cNvSpPr>
            <a:spLocks noGrp="1"/>
          </p:cNvSpPr>
          <p:nvPr/>
        </p:nvSpPr>
        <p:spPr>
          <a:xfrm>
            <a:off x="457200" y="1466850"/>
            <a:ext cx="6858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Show your steps and include units. Use π ≈ 3.14. Diagrams are not to scale.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B07473-E558-40F6-80DE-17C0645666F1}"/>
              </a:ext>
            </a:extLst>
          </p:cNvPr>
          <p:cNvSpPr>
            <a:spLocks noGrp="1"/>
          </p:cNvSpPr>
          <p:nvPr/>
        </p:nvSpPr>
        <p:spPr>
          <a:xfrm>
            <a:off x="457200" y="1743075"/>
            <a:ext cx="6953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Triangle A = bh ÷ 2     Parallelogram A = bh     Circle C = 2πr, A = πr²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1C9D40-C5DA-444D-AE68-028DFCC87F1A}"/>
              </a:ext>
            </a:extLst>
          </p:cNvPr>
          <p:cNvSpPr>
            <a:spLocks noGrp="1"/>
          </p:cNvSpPr>
          <p:nvPr/>
        </p:nvSpPr>
        <p:spPr>
          <a:xfrm>
            <a:off x="457200" y="2171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Triangles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2598022"/>
            <a:ext cx="2571750" cy="149050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58553B8-7EAD-4422-88E7-AC169373F559}"/>
              </a:ext>
            </a:extLst>
          </p:cNvPr>
          <p:cNvSpPr>
            <a:spLocks noGrp="1"/>
          </p:cNvSpPr>
          <p:nvPr/>
        </p:nvSpPr>
        <p:spPr>
          <a:xfrm>
            <a:off x="3333750" y="2228850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1. Find the area of the triangle shown.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02268F93-1BBD-4D82-9ADC-8F818BECFD36}"/>
              </a:ext>
            </a:extLst>
          </p:cNvPr>
          <p:cNvSpPr>
            <a:spLocks noGrp="1"/>
          </p:cNvSpPr>
          <p:nvPr/>
        </p:nvSpPr>
        <p:spPr>
          <a:xfrm>
            <a:off x="3333750" y="2971800"/>
            <a:ext cx="3952875" cy="0"/>
          </a:xfrm>
          <a:prstGeom prst="line">
            <a:avLst/>
          </a:prstGeom>
          <a:ln w="6191">
            <a:solidFill>
              <a:srgbClr val="99999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8D6B9A44-61EE-44F6-9B61-1AC4AB793101}"/>
              </a:ext>
            </a:extLst>
          </p:cNvPr>
          <p:cNvSpPr>
            <a:spLocks noGrp="1"/>
          </p:cNvSpPr>
          <p:nvPr/>
        </p:nvSpPr>
        <p:spPr>
          <a:xfrm>
            <a:off x="3333750" y="3343275"/>
            <a:ext cx="3952875" cy="0"/>
          </a:xfrm>
          <a:prstGeom prst="line">
            <a:avLst/>
          </a:prstGeom>
          <a:ln w="6191">
            <a:solidFill>
              <a:srgbClr val="99999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241E96-7EEF-4742-82CA-2FD3D8632E7F}"/>
              </a:ext>
            </a:extLst>
          </p:cNvPr>
          <p:cNvSpPr>
            <a:spLocks noGrp="1"/>
          </p:cNvSpPr>
          <p:nvPr/>
        </p:nvSpPr>
        <p:spPr>
          <a:xfrm>
            <a:off x="3333750" y="3533775"/>
            <a:ext cx="4000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2. A triangle has area 45 cm² and base</a:t>
            </a:r>
          </a:p>
          <a:p>
            <a:pPr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 cm. Find its height.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86C2AC23-BDC2-4ED3-A6FB-BA5C24CECA0B}"/>
              </a:ext>
            </a:extLst>
          </p:cNvPr>
          <p:cNvSpPr>
            <a:spLocks noGrp="1"/>
          </p:cNvSpPr>
          <p:nvPr/>
        </p:nvSpPr>
        <p:spPr>
          <a:xfrm>
            <a:off x="3333750" y="4333875"/>
            <a:ext cx="3952875" cy="0"/>
          </a:xfrm>
          <a:prstGeom prst="line">
            <a:avLst/>
          </a:prstGeom>
          <a:ln w="6191">
            <a:solidFill>
              <a:srgbClr val="99999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A558E7-9C80-4201-8802-0247DB729591}"/>
              </a:ext>
            </a:extLst>
          </p:cNvPr>
          <p:cNvSpPr>
            <a:spLocks noGrp="1"/>
          </p:cNvSpPr>
          <p:nvPr/>
        </p:nvSpPr>
        <p:spPr>
          <a:xfrm>
            <a:off x="457200" y="4619625"/>
            <a:ext cx="271462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Parallelograms</a:t>
            </a: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57200" y="5099502"/>
            <a:ext cx="2571750" cy="144054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4EAD97E-7BBD-4E21-AAAF-B41AD8CDECAE}"/>
              </a:ext>
            </a:extLst>
          </p:cNvPr>
          <p:cNvSpPr>
            <a:spLocks noGrp="1"/>
          </p:cNvSpPr>
          <p:nvPr/>
        </p:nvSpPr>
        <p:spPr>
          <a:xfrm>
            <a:off x="3333750" y="4667250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3. Find the area of the parallelogram.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1A66B943-26AF-41FB-87E9-67C3EFFA4D75}"/>
              </a:ext>
            </a:extLst>
          </p:cNvPr>
          <p:cNvSpPr>
            <a:spLocks noGrp="1"/>
          </p:cNvSpPr>
          <p:nvPr/>
        </p:nvSpPr>
        <p:spPr>
          <a:xfrm>
            <a:off x="3333750" y="5410200"/>
            <a:ext cx="3952875" cy="0"/>
          </a:xfrm>
          <a:prstGeom prst="line">
            <a:avLst/>
          </a:prstGeom>
          <a:ln w="6191">
            <a:solidFill>
              <a:srgbClr val="99999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EAB38742-B0C9-4A65-946F-56EBA7DAC78B}"/>
              </a:ext>
            </a:extLst>
          </p:cNvPr>
          <p:cNvSpPr>
            <a:spLocks noGrp="1"/>
          </p:cNvSpPr>
          <p:nvPr/>
        </p:nvSpPr>
        <p:spPr>
          <a:xfrm>
            <a:off x="3333750" y="5781675"/>
            <a:ext cx="3952875" cy="0"/>
          </a:xfrm>
          <a:prstGeom prst="line">
            <a:avLst/>
          </a:prstGeom>
          <a:ln w="6191">
            <a:solidFill>
              <a:srgbClr val="99999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EDABD1-6BC8-40F9-82B0-F085A35EDD00}"/>
              </a:ext>
            </a:extLst>
          </p:cNvPr>
          <p:cNvSpPr>
            <a:spLocks noGrp="1"/>
          </p:cNvSpPr>
          <p:nvPr/>
        </p:nvSpPr>
        <p:spPr>
          <a:xfrm>
            <a:off x="3333750" y="5962650"/>
            <a:ext cx="4000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4. Why is the height 4 cm rather than</a:t>
            </a:r>
          </a:p>
          <a:p>
            <a:pPr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sloping side length of 5 cm?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35A4E2B6-036F-4F22-90DB-8E4B25E751A2}"/>
              </a:ext>
            </a:extLst>
          </p:cNvPr>
          <p:cNvSpPr>
            <a:spLocks noGrp="1"/>
          </p:cNvSpPr>
          <p:nvPr/>
        </p:nvSpPr>
        <p:spPr>
          <a:xfrm>
            <a:off x="3333750" y="6772275"/>
            <a:ext cx="3952875" cy="0"/>
          </a:xfrm>
          <a:prstGeom prst="line">
            <a:avLst/>
          </a:prstGeom>
          <a:ln w="6191">
            <a:solidFill>
              <a:srgbClr val="99999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CFDA9C-E763-467A-AE06-A8219CDED47D}"/>
              </a:ext>
            </a:extLst>
          </p:cNvPr>
          <p:cNvSpPr>
            <a:spLocks noGrp="1"/>
          </p:cNvSpPr>
          <p:nvPr/>
        </p:nvSpPr>
        <p:spPr>
          <a:xfrm>
            <a:off x="457200" y="7067550"/>
            <a:ext cx="266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Circles</a:t>
            </a:r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61059" y="7486650"/>
            <a:ext cx="1916407" cy="195262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FD5133D-3E19-4F49-909A-D0380555B135}"/>
              </a:ext>
            </a:extLst>
          </p:cNvPr>
          <p:cNvSpPr>
            <a:spLocks noGrp="1"/>
          </p:cNvSpPr>
          <p:nvPr/>
        </p:nvSpPr>
        <p:spPr>
          <a:xfrm>
            <a:off x="3333750" y="7115175"/>
            <a:ext cx="4000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5. Find the circle’s diameter and</a:t>
            </a:r>
          </a:p>
          <a:p>
            <a:pPr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circumference.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29359AAE-B093-4485-B567-B1D8FD1F02B5}"/>
              </a:ext>
            </a:extLst>
          </p:cNvPr>
          <p:cNvSpPr>
            <a:spLocks noGrp="1"/>
          </p:cNvSpPr>
          <p:nvPr/>
        </p:nvSpPr>
        <p:spPr>
          <a:xfrm>
            <a:off x="3333750" y="7943850"/>
            <a:ext cx="3952875" cy="0"/>
          </a:xfrm>
          <a:prstGeom prst="line">
            <a:avLst/>
          </a:prstGeom>
          <a:ln w="6191">
            <a:solidFill>
              <a:srgbClr val="99999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603CE24E-A23E-41D1-8592-180116855A3A}"/>
              </a:ext>
            </a:extLst>
          </p:cNvPr>
          <p:cNvSpPr>
            <a:spLocks noGrp="1"/>
          </p:cNvSpPr>
          <p:nvPr/>
        </p:nvSpPr>
        <p:spPr>
          <a:xfrm>
            <a:off x="3333750" y="8315325"/>
            <a:ext cx="3952875" cy="0"/>
          </a:xfrm>
          <a:prstGeom prst="line">
            <a:avLst/>
          </a:prstGeom>
          <a:ln w="6191">
            <a:solidFill>
              <a:srgbClr val="99999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D22B699-2374-4919-A490-CC9D4F722D9A}"/>
              </a:ext>
            </a:extLst>
          </p:cNvPr>
          <p:cNvSpPr>
            <a:spLocks noGrp="1"/>
          </p:cNvSpPr>
          <p:nvPr/>
        </p:nvSpPr>
        <p:spPr>
          <a:xfrm>
            <a:off x="3333750" y="8505825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6. Find the area of the same circle.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E5DC00AA-4617-4EF0-A972-44078B6F1ADC}"/>
              </a:ext>
            </a:extLst>
          </p:cNvPr>
          <p:cNvSpPr>
            <a:spLocks noGrp="1"/>
          </p:cNvSpPr>
          <p:nvPr/>
        </p:nvSpPr>
        <p:spPr>
          <a:xfrm>
            <a:off x="3333750" y="9239250"/>
            <a:ext cx="3952875" cy="0"/>
          </a:xfrm>
          <a:prstGeom prst="line">
            <a:avLst/>
          </a:prstGeom>
          <a:ln w="6191">
            <a:solidFill>
              <a:srgbClr val="99999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C1E2A01-AA7C-4538-BF96-0AAE7A7069F4}"/>
              </a:ext>
            </a:extLst>
          </p:cNvPr>
          <p:cNvSpPr>
            <a:spLocks noGrp="1"/>
          </p:cNvSpPr>
          <p:nvPr/>
        </p:nvSpPr>
        <p:spPr>
          <a:xfrm>
            <a:off x="457200" y="9629775"/>
            <a:ext cx="685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Check: lengths use cm. Areas use cm².</a:t>
            </a:r>
          </a:p>
        </p:txBody>
      </p:sp>
    </p:spTree>
    <p:extLst>
      <p:ext uri="{BB962C8B-B14F-4D97-AF65-F5344CB8AC3E}">
        <p14:creationId xmlns:p14="http://schemas.microsoft.com/office/powerpoint/2010/main" val="853213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6858000" cy="420624"/>
          </a:xfrm>
          <a:prstGeom prst="rect">
            <a:avLst/>
          </a:prstGeom>
          <a:noFill/>
        </p:spPr>
        <p:txBody>
          <a:bodyPr wrap="square" lIns="54864" tIns="0" rIns="36576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111111"/>
                </a:solidFill>
                <a:latin typeface="Arial"/>
              </a:defRPr>
            </a:pPr>
            <a:r>
              <a:t>Geometry &amp; 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6858000" cy="274320"/>
          </a:xfrm>
          <a:prstGeom prst="rect">
            <a:avLst/>
          </a:prstGeom>
          <a:noFill/>
        </p:spPr>
        <p:txBody>
          <a:bodyPr wrap="square" lIns="54864" tIns="0" rIns="36576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111111"/>
                </a:solidFill>
                <a:latin typeface="Arial"/>
              </a:defRPr>
            </a:pPr>
            <a:r>
              <a:t>Teacher page: answer key &amp; quick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24712"/>
            <a:ext cx="6858000" cy="246888"/>
          </a:xfrm>
          <a:prstGeom prst="rect">
            <a:avLst/>
          </a:prstGeom>
          <a:noFill/>
        </p:spPr>
        <p:txBody>
          <a:bodyPr wrap="square" lIns="54864" tIns="0" rIns="36576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11111"/>
                </a:solidFill>
                <a:latin typeface="Arial"/>
              </a:defRPr>
            </a:pPr>
            <a:r>
              <a:t>Alberta Grade 7 mathematics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72768"/>
            <a:ext cx="6858000" cy="310896"/>
          </a:xfrm>
          <a:prstGeom prst="rect">
            <a:avLst/>
          </a:prstGeom>
          <a:noFill/>
        </p:spPr>
        <p:txBody>
          <a:bodyPr wrap="square" lIns="54864" tIns="0" rIns="36576" bIns="0">
            <a:spAutoFit/>
          </a:bodyPr>
          <a:lstStyle/>
          <a:p>
            <a:pPr>
              <a:spcAft>
                <a:spcPts val="300"/>
              </a:spcAft>
              <a:defRPr sz="1725" b="1">
                <a:solidFill>
                  <a:srgbClr val="111111"/>
                </a:solidFill>
                <a:latin typeface="Arial"/>
              </a:defRPr>
            </a:pPr>
            <a:r>
              <a:t>Answer 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75104"/>
            <a:ext cx="3291840" cy="228600"/>
          </a:xfrm>
          <a:prstGeom prst="rect">
            <a:avLst/>
          </a:prstGeom>
          <a:noFill/>
        </p:spPr>
        <p:txBody>
          <a:bodyPr wrap="square" lIns="54864" tIns="0" rIns="36576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11111"/>
                </a:solidFill>
                <a:latin typeface="Arial"/>
              </a:defRPr>
            </a:pPr>
            <a:r>
              <a:t>1. Triangle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58568"/>
            <a:ext cx="3291840" cy="320040"/>
          </a:xfrm>
          <a:prstGeom prst="rect">
            <a:avLst/>
          </a:prstGeom>
          <a:noFill/>
        </p:spPr>
        <p:txBody>
          <a:bodyPr wrap="square" lIns="54864" tIns="0" rIns="36576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111111"/>
                </a:solidFill>
                <a:latin typeface="Arial"/>
              </a:defRPr>
            </a:pPr>
            <a:r>
              <a:t>A = bh ÷ 2 = 12 × 7 ÷ 2 = 42 cm²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975104"/>
            <a:ext cx="3383280" cy="228600"/>
          </a:xfrm>
          <a:prstGeom prst="rect">
            <a:avLst/>
          </a:prstGeom>
          <a:noFill/>
        </p:spPr>
        <p:txBody>
          <a:bodyPr wrap="square" lIns="54864" tIns="0" rIns="36576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11111"/>
                </a:solidFill>
                <a:latin typeface="Arial"/>
              </a:defRPr>
            </a:pPr>
            <a:r>
              <a:t>2. Missing triangle height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258568"/>
            <a:ext cx="3383280" cy="320040"/>
          </a:xfrm>
          <a:prstGeom prst="rect">
            <a:avLst/>
          </a:prstGeom>
          <a:noFill/>
        </p:spPr>
        <p:txBody>
          <a:bodyPr wrap="square" lIns="54864" tIns="0" rIns="36576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111111"/>
                </a:solidFill>
                <a:latin typeface="Arial"/>
              </a:defRPr>
            </a:pPr>
            <a:r>
              <a:t>h = 2A ÷ b = 2 × 45 ÷ 10 = 9 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34056"/>
            <a:ext cx="3291840" cy="228600"/>
          </a:xfrm>
          <a:prstGeom prst="rect">
            <a:avLst/>
          </a:prstGeom>
          <a:noFill/>
        </p:spPr>
        <p:txBody>
          <a:bodyPr wrap="square" lIns="54864" tIns="0" rIns="36576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11111"/>
                </a:solidFill>
                <a:latin typeface="Arial"/>
              </a:defRPr>
            </a:pPr>
            <a:r>
              <a:t>3. Parallelogram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3291840" cy="320040"/>
          </a:xfrm>
          <a:prstGeom prst="rect">
            <a:avLst/>
          </a:prstGeom>
          <a:noFill/>
        </p:spPr>
        <p:txBody>
          <a:bodyPr wrap="square" lIns="54864" tIns="0" rIns="36576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111111"/>
                </a:solidFill>
                <a:latin typeface="Arial"/>
              </a:defRPr>
            </a:pPr>
            <a:r>
              <a:t>A = bh = 9 × 4 = 36 cm²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734056"/>
            <a:ext cx="3383280" cy="228600"/>
          </a:xfrm>
          <a:prstGeom prst="rect">
            <a:avLst/>
          </a:prstGeom>
          <a:noFill/>
        </p:spPr>
        <p:txBody>
          <a:bodyPr wrap="square" lIns="54864" tIns="0" rIns="36576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11111"/>
                </a:solidFill>
                <a:latin typeface="Arial"/>
              </a:defRPr>
            </a:pPr>
            <a:r>
              <a:t>4. Perpendicular height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017520"/>
            <a:ext cx="3383280" cy="594360"/>
          </a:xfrm>
          <a:prstGeom prst="rect">
            <a:avLst/>
          </a:prstGeom>
          <a:noFill/>
        </p:spPr>
        <p:txBody>
          <a:bodyPr wrap="square" lIns="54864" tIns="0" rIns="36576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111111"/>
                </a:solidFill>
                <a:latin typeface="Arial"/>
              </a:defRPr>
            </a:pPr>
            <a:r>
              <a:t>The 4 cm height meets the base at 90°.</a:t>
            </a:r>
          </a:p>
          <a:p>
            <a:pPr>
              <a:spcAft>
                <a:spcPts val="300"/>
              </a:spcAft>
              <a:defRPr sz="1200" b="0">
                <a:solidFill>
                  <a:srgbClr val="111111"/>
                </a:solidFill>
                <a:latin typeface="Arial"/>
              </a:defRPr>
            </a:pPr>
            <a:r>
              <a:t>The 5 cm sloping side is not the height.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58184"/>
            <a:ext cx="3474720" cy="228600"/>
          </a:xfrm>
          <a:prstGeom prst="rect">
            <a:avLst/>
          </a:prstGeom>
          <a:noFill/>
        </p:spPr>
        <p:txBody>
          <a:bodyPr wrap="square" lIns="54864" tIns="0" rIns="36576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11111"/>
                </a:solidFill>
                <a:latin typeface="Arial"/>
              </a:defRPr>
            </a:pPr>
            <a:r>
              <a:t>5. Circle diameter and circumference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41648"/>
            <a:ext cx="3383280" cy="548640"/>
          </a:xfrm>
          <a:prstGeom prst="rect">
            <a:avLst/>
          </a:prstGeom>
          <a:noFill/>
        </p:spPr>
        <p:txBody>
          <a:bodyPr wrap="square" lIns="54864" tIns="0" rIns="36576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111111"/>
                </a:solidFill>
                <a:latin typeface="Arial"/>
              </a:defRPr>
            </a:pPr>
            <a:r>
              <a:t>d = 2r = 2 × 5 = 10 cm</a:t>
            </a:r>
          </a:p>
          <a:p>
            <a:pPr>
              <a:spcAft>
                <a:spcPts val="300"/>
              </a:spcAft>
              <a:defRPr sz="1200" b="0">
                <a:solidFill>
                  <a:srgbClr val="111111"/>
                </a:solidFill>
                <a:latin typeface="Arial"/>
              </a:defRPr>
            </a:pPr>
            <a:r>
              <a:t>C ≈ 2 × 3.14 × 5 = 31.4 cm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758184"/>
            <a:ext cx="3383280" cy="228600"/>
          </a:xfrm>
          <a:prstGeom prst="rect">
            <a:avLst/>
          </a:prstGeom>
          <a:noFill/>
        </p:spPr>
        <p:txBody>
          <a:bodyPr wrap="square" lIns="54864" tIns="0" rIns="36576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11111"/>
                </a:solidFill>
                <a:latin typeface="Arial"/>
              </a:defRPr>
            </a:pPr>
            <a:r>
              <a:t>6. Circle area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041648"/>
            <a:ext cx="3383280" cy="320040"/>
          </a:xfrm>
          <a:prstGeom prst="rect">
            <a:avLst/>
          </a:prstGeom>
          <a:noFill/>
        </p:spPr>
        <p:txBody>
          <a:bodyPr wrap="square" lIns="54864" tIns="0" rIns="36576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111111"/>
                </a:solidFill>
                <a:latin typeface="Arial"/>
              </a:defRPr>
            </a:pPr>
            <a:r>
              <a:t>A ≈ 3.14 × 5² = 78.5 cm²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37176"/>
            <a:ext cx="6858000" cy="310896"/>
          </a:xfrm>
          <a:prstGeom prst="rect">
            <a:avLst/>
          </a:prstGeom>
          <a:noFill/>
        </p:spPr>
        <p:txBody>
          <a:bodyPr wrap="square" lIns="54864" tIns="0" rIns="36576" bIns="0">
            <a:spAutoFit/>
          </a:bodyPr>
          <a:lstStyle/>
          <a:p>
            <a:pPr>
              <a:spcAft>
                <a:spcPts val="300"/>
              </a:spcAft>
              <a:defRPr sz="1725" b="1">
                <a:solidFill>
                  <a:srgbClr val="111111"/>
                </a:solidFill>
                <a:latin typeface="Arial"/>
              </a:defRPr>
            </a:pPr>
            <a:r>
              <a:t>Quick lesson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221224"/>
            <a:ext cx="6858000" cy="237744"/>
          </a:xfrm>
          <a:prstGeom prst="rect">
            <a:avLst/>
          </a:prstGeom>
          <a:noFill/>
        </p:spPr>
        <p:txBody>
          <a:bodyPr wrap="square" lIns="54864" tIns="0" rIns="36576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11111"/>
                </a:solidFill>
                <a:latin typeface="Arial"/>
              </a:defRPr>
            </a:pPr>
            <a:r>
              <a:t>Suggested 30-minute review lesson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541264"/>
            <a:ext cx="6858000" cy="512064"/>
          </a:xfrm>
          <a:prstGeom prst="rect">
            <a:avLst/>
          </a:prstGeom>
          <a:noFill/>
        </p:spPr>
        <p:txBody>
          <a:bodyPr wrap="square" lIns="54864" tIns="0" rIns="36576" bIns="0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111111"/>
                </a:solidFill>
                <a:latin typeface="Arial"/>
              </a:defRPr>
            </a:pPr>
            <a:r>
              <a:t>Goal: Choose the correct measurements and formulas, show steps, and use units.</a:t>
            </a:r>
          </a:p>
          <a:p>
            <a:pPr>
              <a:spcAft>
                <a:spcPts val="300"/>
              </a:spcAft>
              <a:defRPr sz="1150" b="0">
                <a:solidFill>
                  <a:srgbClr val="111111"/>
                </a:solidFill>
                <a:latin typeface="Arial"/>
              </a:defRPr>
            </a:pPr>
            <a:r>
              <a:t>Materials: Student worksheet, pencils, calculator and board.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63640"/>
            <a:ext cx="1600200" cy="438912"/>
          </a:xfrm>
          <a:prstGeom prst="rect">
            <a:avLst/>
          </a:prstGeom>
          <a:noFill/>
        </p:spPr>
        <p:txBody>
          <a:bodyPr wrap="square" lIns="54864" tIns="0" rIns="36576" bIns="0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111111"/>
                </a:solidFill>
                <a:latin typeface="Arial"/>
              </a:defRPr>
            </a:pPr>
            <a:r>
              <a:t>3 min  Warm-up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263640"/>
            <a:ext cx="5257800" cy="530352"/>
          </a:xfrm>
          <a:prstGeom prst="rect">
            <a:avLst/>
          </a:prstGeom>
          <a:noFill/>
        </p:spPr>
        <p:txBody>
          <a:bodyPr wrap="square" lIns="54864" tIns="0" rIns="36576" bIns="0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111111"/>
                </a:solidFill>
                <a:latin typeface="Arial"/>
              </a:defRPr>
            </a:pPr>
            <a:r>
              <a:t>Ask students to identify a base and perpendicular height. Review radius</a:t>
            </a:r>
          </a:p>
          <a:p>
            <a:pPr>
              <a:spcAft>
                <a:spcPts val="300"/>
              </a:spcAft>
              <a:defRPr sz="1150" b="0">
                <a:solidFill>
                  <a:srgbClr val="111111"/>
                </a:solidFill>
                <a:latin typeface="Arial"/>
              </a:defRPr>
            </a:pPr>
            <a:r>
              <a:t>and diameter, then distinguish distance around from area inside.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867144"/>
            <a:ext cx="1600200" cy="438912"/>
          </a:xfrm>
          <a:prstGeom prst="rect">
            <a:avLst/>
          </a:prstGeom>
          <a:noFill/>
        </p:spPr>
        <p:txBody>
          <a:bodyPr wrap="square" lIns="54864" tIns="0" rIns="36576" bIns="0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111111"/>
                </a:solidFill>
                <a:latin typeface="Arial"/>
              </a:defRPr>
            </a:pPr>
            <a:r>
              <a:t>7 min 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6867144"/>
            <a:ext cx="5257800" cy="530352"/>
          </a:xfrm>
          <a:prstGeom prst="rect">
            <a:avLst/>
          </a:prstGeom>
          <a:noFill/>
        </p:spPr>
        <p:txBody>
          <a:bodyPr wrap="square" lIns="54864" tIns="0" rIns="36576" bIns="0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111111"/>
                </a:solidFill>
                <a:latin typeface="Arial"/>
              </a:defRPr>
            </a:pPr>
            <a:r>
              <a:t>Work a triangle example: b = 8 cm, h = 3 cm, A = 12 cm². Review</a:t>
            </a:r>
          </a:p>
          <a:p>
            <a:pPr>
              <a:spcAft>
                <a:spcPts val="300"/>
              </a:spcAft>
              <a:defRPr sz="1150" b="0">
                <a:solidFill>
                  <a:srgbClr val="111111"/>
                </a:solidFill>
                <a:latin typeface="Arial"/>
              </a:defRPr>
            </a:pPr>
            <a:r>
              <a:t>A = bh, C = 2πr and A = πr². Emphasize the right-angle height.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7470648"/>
            <a:ext cx="1600200" cy="438912"/>
          </a:xfrm>
          <a:prstGeom prst="rect">
            <a:avLst/>
          </a:prstGeom>
          <a:noFill/>
        </p:spPr>
        <p:txBody>
          <a:bodyPr wrap="square" lIns="54864" tIns="0" rIns="36576" bIns="0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111111"/>
                </a:solidFill>
                <a:latin typeface="Arial"/>
              </a:defRPr>
            </a:pPr>
            <a:r>
              <a:t>12 min  Practise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7470648"/>
            <a:ext cx="5257800" cy="530352"/>
          </a:xfrm>
          <a:prstGeom prst="rect">
            <a:avLst/>
          </a:prstGeom>
          <a:noFill/>
        </p:spPr>
        <p:txBody>
          <a:bodyPr wrap="square" lIns="54864" tIns="0" rIns="36576" bIns="0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111111"/>
                </a:solidFill>
                <a:latin typeface="Arial"/>
              </a:defRPr>
            </a:pPr>
            <a:r>
              <a:t>Students complete questions 1–6. Circulate and check formula choices.</a:t>
            </a:r>
          </a:p>
          <a:p>
            <a:pPr>
              <a:spcAft>
                <a:spcPts val="300"/>
              </a:spcAft>
              <a:defRPr sz="1150" b="0">
                <a:solidFill>
                  <a:srgbClr val="111111"/>
                </a:solidFill>
                <a:latin typeface="Arial"/>
              </a:defRPr>
            </a:pPr>
            <a:r>
              <a:t>Prompt students to use π ≈ 3.14 and label cm or cm².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8074152"/>
            <a:ext cx="1600200" cy="438912"/>
          </a:xfrm>
          <a:prstGeom prst="rect">
            <a:avLst/>
          </a:prstGeom>
          <a:noFill/>
        </p:spPr>
        <p:txBody>
          <a:bodyPr wrap="square" lIns="54864" tIns="0" rIns="36576" bIns="0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111111"/>
                </a:solidFill>
                <a:latin typeface="Arial"/>
              </a:defRPr>
            </a:pPr>
            <a:r>
              <a:t>5 min  Discuss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8074152"/>
            <a:ext cx="5257800" cy="530352"/>
          </a:xfrm>
          <a:prstGeom prst="rect">
            <a:avLst/>
          </a:prstGeom>
          <a:noFill/>
        </p:spPr>
        <p:txBody>
          <a:bodyPr wrap="square" lIns="54864" tIns="0" rIns="36576" bIns="0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111111"/>
                </a:solidFill>
                <a:latin typeface="Arial"/>
              </a:defRPr>
            </a:pPr>
            <a:r>
              <a:t>Compare answers. Ask why question 4 uses 4 cm instead of 5 cm.</a:t>
            </a:r>
          </a:p>
          <a:p>
            <a:pPr>
              <a:spcAft>
                <a:spcPts val="300"/>
              </a:spcAft>
              <a:defRPr sz="1150" b="0">
                <a:solidFill>
                  <a:srgbClr val="111111"/>
                </a:solidFill>
                <a:latin typeface="Arial"/>
              </a:defRPr>
            </a:pPr>
            <a:r>
              <a:t>Address radius/diameter mix-ups and forgetting to halve triangle area.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8677656"/>
            <a:ext cx="1600200" cy="438912"/>
          </a:xfrm>
          <a:prstGeom prst="rect">
            <a:avLst/>
          </a:prstGeom>
          <a:noFill/>
        </p:spPr>
        <p:txBody>
          <a:bodyPr wrap="square" lIns="54864" tIns="0" rIns="36576" bIns="0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111111"/>
                </a:solidFill>
                <a:latin typeface="Arial"/>
              </a:defRPr>
            </a:pPr>
            <a:r>
              <a:t>3 min  Exit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8677656"/>
            <a:ext cx="5257800" cy="530352"/>
          </a:xfrm>
          <a:prstGeom prst="rect">
            <a:avLst/>
          </a:prstGeom>
          <a:noFill/>
        </p:spPr>
        <p:txBody>
          <a:bodyPr wrap="square" lIns="54864" tIns="0" rIns="36576" bIns="0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111111"/>
                </a:solidFill>
                <a:latin typeface="Arial"/>
              </a:defRPr>
            </a:pPr>
            <a:r>
              <a:t>A circle has radius 3 cm. Find its diameter and area.</a:t>
            </a:r>
          </a:p>
          <a:p>
            <a:pPr>
              <a:spcAft>
                <a:spcPts val="300"/>
              </a:spcAft>
              <a:defRPr sz="1150" b="0">
                <a:solidFill>
                  <a:srgbClr val="111111"/>
                </a:solidFill>
                <a:latin typeface="Arial"/>
              </a:defRPr>
            </a:pPr>
            <a:r>
              <a:t>Expected: d = 6 cm and A ≈ 28.26 cm². Use responses to plan reteaching.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9363456"/>
            <a:ext cx="6858000" cy="457200"/>
          </a:xfrm>
          <a:prstGeom prst="rect">
            <a:avLst/>
          </a:prstGeom>
          <a:noFill/>
        </p:spPr>
        <p:txBody>
          <a:bodyPr wrap="square" lIns="54864" tIns="0" rIns="36576" bIns="0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111111"/>
                </a:solidFill>
                <a:latin typeface="Arial"/>
              </a:defRPr>
            </a:pPr>
            <a:r>
              <a:t>Support: Label b, h and r before substituting.  Extension: Double a circle’s radius.</a:t>
            </a:r>
          </a:p>
          <a:p>
            <a:pPr>
              <a:spcAft>
                <a:spcPts val="300"/>
              </a:spcAft>
              <a:defRPr sz="1050" b="0">
                <a:solidFill>
                  <a:srgbClr val="111111"/>
                </a:solidFill>
                <a:latin typeface="Arial"/>
              </a:defRPr>
            </a:pPr>
            <a:r>
              <a:t>Ask how circumference and area change. Expected: ×2 and ×4.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2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ChatGPT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Sally Smith</dc:creator>
  <cp:lastModifiedBy>Sally Smith</cp:lastModifiedBy>
  <cp:revision>1</cp:revision>
  <dcterms:created xsi:type="dcterms:W3CDTF">2026-10-22T12:12:16Z</dcterms:created>
  <dcterms:modified xsi:type="dcterms:W3CDTF">2026-10-22T12:23:27Z</dcterms:modified>
</cp:coreProperties>
</file>